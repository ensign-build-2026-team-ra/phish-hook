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782673f2d84006" /><Relationship Type="http://schemas.openxmlformats.org/officeDocument/2006/relationships/extended-properties" Target="/docProps/app.xml" Id="R00dc8779e66a4a64" /><Relationship Type="http://schemas.openxmlformats.org/officeDocument/2006/relationships/officeDocument" Target="/ppt/presentation.xml" Id="Re0a2f396791b49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619a43ea6a4283"/>
  </p:sldMasterIdLst>
  <p:notesMasterIdLst>
    <p:notesMasterId xmlns:r="http://schemas.openxmlformats.org/officeDocument/2006/relationships" r:id="R225c558bb1c24a75"/>
  </p:notesMasterIdLst>
  <p:sldIdLst>
    <p:sldId xmlns:r="http://schemas.openxmlformats.org/officeDocument/2006/relationships" id="256" r:id="R0e41510621f8480c"/>
    <p:sldId xmlns:r="http://schemas.openxmlformats.org/officeDocument/2006/relationships" id="257" r:id="R137d6af20ade4018"/>
    <p:sldId xmlns:r="http://schemas.openxmlformats.org/officeDocument/2006/relationships" id="258" r:id="Reb9170c4c784400d"/>
    <p:sldId xmlns:r="http://schemas.openxmlformats.org/officeDocument/2006/relationships" id="259" r:id="Re73a87eff5464cc2"/>
    <p:sldId xmlns:r="http://schemas.openxmlformats.org/officeDocument/2006/relationships" id="260" r:id="Rb8b1376ab3d14e66"/>
    <p:sldId xmlns:r="http://schemas.openxmlformats.org/officeDocument/2006/relationships" id="261" r:id="R40e51b2e773046c1"/>
    <p:sldId xmlns:r="http://schemas.openxmlformats.org/officeDocument/2006/relationships" id="262" r:id="R8bedee3138384f6a"/>
    <p:sldId xmlns:r="http://schemas.openxmlformats.org/officeDocument/2006/relationships" id="263" r:id="R6fc00bd2a20b4767"/>
    <p:sldId xmlns:r="http://schemas.openxmlformats.org/officeDocument/2006/relationships" id="264" r:id="R9301e028e10e4e54"/>
    <p:sldId xmlns:r="http://schemas.openxmlformats.org/officeDocument/2006/relationships" id="265" r:id="Rd492d9767a064f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ae5b0c32e64d54" /><Relationship Type="http://schemas.openxmlformats.org/officeDocument/2006/relationships/slideMaster" Target="/ppt/slideMasters/slideMaster1.xml" Id="R0e619a43ea6a4283" /><Relationship Type="http://schemas.openxmlformats.org/officeDocument/2006/relationships/notesMaster" Target="/ppt/notesMasters/notesMaster1.xml" Id="R225c558bb1c24a75" /><Relationship Type="http://schemas.openxmlformats.org/officeDocument/2006/relationships/presProps" Target="/ppt/presProps.xml" Id="Rde98662bf5e74341" /><Relationship Type="http://schemas.openxmlformats.org/officeDocument/2006/relationships/tableStyles" Target="/ppt/tableStyles.xml" Id="R6c2aec49d7d54e5f" /><Relationship Type="http://schemas.openxmlformats.org/officeDocument/2006/relationships/slide" Target="/ppt/slides/slide1.xml" Id="R0e41510621f8480c" /><Relationship Type="http://schemas.openxmlformats.org/officeDocument/2006/relationships/slide" Target="/ppt/slides/slide2.xml" Id="R137d6af20ade4018" /><Relationship Type="http://schemas.openxmlformats.org/officeDocument/2006/relationships/slide" Target="/ppt/slides/slide3.xml" Id="Reb9170c4c784400d" /><Relationship Type="http://schemas.openxmlformats.org/officeDocument/2006/relationships/slide" Target="/ppt/slides/slide4.xml" Id="Re73a87eff5464cc2" /><Relationship Type="http://schemas.openxmlformats.org/officeDocument/2006/relationships/slide" Target="/ppt/slides/slide5.xml" Id="Rb8b1376ab3d14e66" /><Relationship Type="http://schemas.openxmlformats.org/officeDocument/2006/relationships/slide" Target="/ppt/slides/slide6.xml" Id="R40e51b2e773046c1" /><Relationship Type="http://schemas.openxmlformats.org/officeDocument/2006/relationships/slide" Target="/ppt/slides/slide7.xml" Id="R8bedee3138384f6a" /><Relationship Type="http://schemas.openxmlformats.org/officeDocument/2006/relationships/slide" Target="/ppt/slides/slide8.xml" Id="R6fc00bd2a20b4767" /><Relationship Type="http://schemas.openxmlformats.org/officeDocument/2006/relationships/slide" Target="/ppt/slides/slide9.xml" Id="R9301e028e10e4e54" /><Relationship Type="http://schemas.openxmlformats.org/officeDocument/2006/relationships/slide" Target="/ppt/slides/slide10.xml" Id="Rd492d9767a06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a8bf7d78d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a100ece17a4dc7" /><Relationship Type="http://schemas.openxmlformats.org/officeDocument/2006/relationships/notesMaster" Target="/ppt/notesMasters/notesMaster1.xml" Id="R1b2bbe5222574e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d9ed1fa3ab46b7" /><Relationship Type="http://schemas.openxmlformats.org/officeDocument/2006/relationships/notesMaster" Target="/ppt/notesMasters/notesMaster1.xml" Id="Rdb332dace27643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7f9d75d0764812" /><Relationship Type="http://schemas.openxmlformats.org/officeDocument/2006/relationships/notesMaster" Target="/ppt/notesMasters/notesMaster1.xml" Id="R5b3bf40cf09b45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f8a43ebd346e9" /><Relationship Type="http://schemas.openxmlformats.org/officeDocument/2006/relationships/notesMaster" Target="/ppt/notesMasters/notesMaster1.xml" Id="Raa0b540b2a6942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8462f21fb247bc" /><Relationship Type="http://schemas.openxmlformats.org/officeDocument/2006/relationships/notesMaster" Target="/ppt/notesMasters/notesMaster1.xml" Id="R8678dd73b49e42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e840d8cf604cd9" /><Relationship Type="http://schemas.openxmlformats.org/officeDocument/2006/relationships/notesMaster" Target="/ppt/notesMasters/notesMaster1.xml" Id="R42fe8a46036841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03f148e9db44f1" /><Relationship Type="http://schemas.openxmlformats.org/officeDocument/2006/relationships/notesMaster" Target="/ppt/notesMasters/notesMaster1.xml" Id="Rb29c9ac3e12f4b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55515cafa64bbe" /><Relationship Type="http://schemas.openxmlformats.org/officeDocument/2006/relationships/notesMaster" Target="/ppt/notesMasters/notesMaster1.xml" Id="Rea685cfb342648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b6177c29eb42b2" /><Relationship Type="http://schemas.openxmlformats.org/officeDocument/2006/relationships/notesMaster" Target="/ppt/notesMasters/notesMaster1.xml" Id="R838e17f7311d44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28ec8d9c50242c4" /><Relationship Type="http://schemas.openxmlformats.org/officeDocument/2006/relationships/notesMaster" Target="/ppt/notesMasters/notesMaster1.xml" Id="R7f557c7690204b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Phishing Hook helps people recognize manipulation before they act on a suspicious message.</a:t>
            </a:r>
          </a:p>
          <a:p xmlns:a="http://schemas.openxmlformats.org/drawingml/2006/main">
            <a:r>
              <a:t>Phil the Phish is the antagonist who represents the phisher setting the bait.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https://phishhook.lol/</a:t>
            </a:r>
          </a:p>
          <a:p xmlns:a="http://schemas.openxmlformats.org/drawingml/2006/main">
            <a:r>
              <a:t>- Repository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short example for each tactic. Emphasize that phishing often combines pressure with a trusted identity.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 README.md, Project summary and Capabilities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comes from the deployed website.</a:t>
            </a:r>
          </a:p>
          <a:p xmlns:a="http://schemas.openxmlformats.org/drawingml/2006/main">
            <a:r>
              <a:t>The product combines direct analysis with training, history, and a browser-local dashboard.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https://phishhook.lol/</a:t>
            </a:r>
          </a:p>
          <a:p xmlns:a="http://schemas.openxmlformats.org/drawingml/2006/main">
            <a:r>
              <a:t>- Repository README.md, Training and browser-local tools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Flow: forward email, receive a quick local rating, open the expiring token link, review the message, then start Workers AI.</a:t>
            </a:r>
          </a:p>
          <a:p xmlns:a="http://schemas.openxmlformats.org/drawingml/2006/main">
            <a:r>
              <a:t>The inbound email handler supports plain text and HTML-only email. Attachments and oversized messages receive the normal analysis link.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 README.md, Receive and reply to inbound email</a:t>
            </a:r>
          </a:p>
          <a:p xmlns:a="http://schemas.openxmlformats.org/drawingml/2006/main">
            <a:r>
              <a:t>- Repository docs/inbound-email.md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screenshot uses the live deployed analyzer with a prefilled suspicious message.</a:t>
            </a:r>
          </a:p>
          <a:p xmlns:a="http://schemas.openxmlformats.org/drawingml/2006/main">
            <a:r>
              <a:t>The flow does not automatically submit imported email content to AI.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https://phishhook.lol/#analyze</a:t>
            </a:r>
          </a:p>
          <a:p xmlns:a="http://schemas.openxmlformats.org/drawingml/2006/main">
            <a:r>
              <a:t>- Repository README.md, Analyse suspicious messages and Privacy and safety behavior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 output includes a score, level, summary, flags, explanation, and advice.</a:t>
            </a:r>
          </a:p>
          <a:p xmlns:a="http://schemas.openxmlformats.org/drawingml/2006/main">
            <a:r>
              <a:t>The score supports human judgment. It does not guarantee that a message is safe or malicious.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 README.md, Analyse suspicious messages</a:t>
            </a:r>
          </a:p>
          <a:p xmlns:a="http://schemas.openxmlformats.org/drawingml/2006/main">
            <a:r>
              <a:t>- Repository src/index.js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architecture from the user interface down to email and temporary state.</a:t>
            </a:r>
          </a:p>
          <a:p xmlns:a="http://schemas.openxmlformats.org/drawingml/2006/main">
            <a:r>
              <a:t>Workers AI model configured in the repository: @cf/google/gemma-4-26b-a4b-it.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 README.md, Technology and Architecture</a:t>
            </a:r>
          </a:p>
          <a:p xmlns:a="http://schemas.openxmlformats.org/drawingml/2006/main">
            <a:r>
              <a:t>- Repository wrangler.jsonc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Privacy is part of the product design, especially for inbound email.</a:t>
            </a:r>
          </a:p>
          <a:p xmlns:a="http://schemas.openxmlformats.org/drawingml/2006/main">
            <a:r>
              <a:t>Tokens are bearer credentials, so anyone with the link can read the stored body until expiry.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 README.md, Privacy and safety behavior and Cost model</a:t>
            </a:r>
          </a:p>
          <a:p xmlns:a="http://schemas.openxmlformats.org/drawingml/2006/main">
            <a:r>
              <a:t>- Repository docs/inbound-email.md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each team member according to the competition format.</a:t>
            </a:r>
          </a:p>
          <a:p xmlns:a="http://schemas.openxmlformats.org/drawingml/2006/main">
            <a:r>
              <a:t>Source: Repository README.md, Team RA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live site and invite questions or a product demonstration.</a:t>
            </a:r>
          </a:p>
          <a:p xmlns:a="http://schemas.openxmlformats.org/drawingml/2006/main">
            <a:r>
              <a:t>Source: https://phishhook.lol/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6b1b09b2042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4fc09c0e944cb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0d3f9675a49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e721658c1e46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4e02e88bdb41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4e17dd843f49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EB3AC3-6A46-4062-BDC3-C6CD17522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F00269-A27C-4D4C-B2CD-7052E75986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7698324-78D0-409C-8DB9-80F296EEF5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1D827-4B03-47A2-82EF-F58947A00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019CB8-7B4A-41BF-B899-F4B4EC32EB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02C7B30-AB4F-4304-9F34-9036B71FDA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5526E8-612B-423D-9AC4-994963D249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5F3F18-6012-40D4-8A55-870847B6CF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087F55-8179-42F2-9998-478127BE1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E1B5FE-D573-49BD-9F18-69C28F8ACE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abd00595d8412d" /><Relationship Type="http://schemas.openxmlformats.org/officeDocument/2006/relationships/slideLayout" Target="/ppt/slideLayouts/slideLayout1.xml" Id="R9609330c5885466d" /><Relationship Type="http://schemas.openxmlformats.org/officeDocument/2006/relationships/slideLayout" Target="/ppt/slideLayouts/slideLayout2.xml" Id="R0a2d05f3af404c83" /><Relationship Type="http://schemas.openxmlformats.org/officeDocument/2006/relationships/slideLayout" Target="/ppt/slideLayouts/slideLayout3.xml" Id="R14ff5bbc8c82493f" /><Relationship Type="http://schemas.openxmlformats.org/officeDocument/2006/relationships/slideLayout" Target="/ppt/slideLayouts/slideLayout4.xml" Id="R67c7949d0b6d45de" /><Relationship Type="http://schemas.openxmlformats.org/officeDocument/2006/relationships/slideLayout" Target="/ppt/slideLayouts/slideLayout5.xml" Id="R3d249885cf654302" /><Relationship Type="http://schemas.openxmlformats.org/officeDocument/2006/relationships/slideLayout" Target="/ppt/slideLayouts/slideLayout6.xml" Id="R4e504b93111a4b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09330c5885466d"/>
    <p:sldLayoutId xmlns:r="http://schemas.openxmlformats.org/officeDocument/2006/relationships" id="2147483650" r:id="R0a2d05f3af404c83"/>
    <p:sldLayoutId xmlns:r="http://schemas.openxmlformats.org/officeDocument/2006/relationships" id="2147483651" r:id="R14ff5bbc8c82493f"/>
    <p:sldLayoutId xmlns:r="http://schemas.openxmlformats.org/officeDocument/2006/relationships" id="2147483652" r:id="R67c7949d0b6d45de"/>
    <p:sldLayoutId xmlns:r="http://schemas.openxmlformats.org/officeDocument/2006/relationships" id="2147483653" r:id="R3d249885cf654302"/>
    <p:sldLayoutId xmlns:r="http://schemas.openxmlformats.org/officeDocument/2006/relationships" id="2147483654" r:id="R4e504b93111a4b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401a0f9f594d29" /><Relationship Type="http://schemas.openxmlformats.org/officeDocument/2006/relationships/image" Target="/ppt/media/image.png" Id="R6d921b10714144b5" /><Relationship Type="http://schemas.openxmlformats.org/officeDocument/2006/relationships/notesSlide" Target="/ppt/notesSlides/notesSlide1.xml" Id="Ra1dc00b53ec047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bac2116e894010" /><Relationship Type="http://schemas.openxmlformats.org/officeDocument/2006/relationships/image" Target="/ppt/media/image2.png" Id="Rcf550d35480c4479" /><Relationship Type="http://schemas.openxmlformats.org/officeDocument/2006/relationships/notesSlide" Target="/ppt/notesSlides/notesSlide2.xml" Id="R2b493d38d8be4d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0e82f4caf64f93" /><Relationship Type="http://schemas.openxmlformats.org/officeDocument/2006/relationships/image" Target="/ppt/media/image3.png" Id="R6a40563f7a654366" /><Relationship Type="http://schemas.openxmlformats.org/officeDocument/2006/relationships/image" Target="/ppt/media/image4.png" Id="R81fba3a9da294d8c" /><Relationship Type="http://schemas.openxmlformats.org/officeDocument/2006/relationships/notesSlide" Target="/ppt/notesSlides/notesSlide3.xml" Id="R3f746a69c03044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b725f728c4fe7" /><Relationship Type="http://schemas.openxmlformats.org/officeDocument/2006/relationships/image" Target="/ppt/media/image5.png" Id="Rdb137f7f561a4363" /><Relationship Type="http://schemas.openxmlformats.org/officeDocument/2006/relationships/image" Target="/ppt/media/image6.png" Id="Rb03def3f478f4739" /><Relationship Type="http://schemas.openxmlformats.org/officeDocument/2006/relationships/image" Target="/ppt/media/image.svg" Id="Raec1ad1a7329424e" /><Relationship Type="http://schemas.openxmlformats.org/officeDocument/2006/relationships/notesSlide" Target="/ppt/notesSlides/notesSlide4.xml" Id="R19e6e8f0be41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d455b0f324721" /><Relationship Type="http://schemas.openxmlformats.org/officeDocument/2006/relationships/image" Target="/ppt/media/image7.png" Id="Rb69a3f5657894f50" /><Relationship Type="http://schemas.openxmlformats.org/officeDocument/2006/relationships/image" Target="/ppt/media/image8.png" Id="Rd343417818544764" /><Relationship Type="http://schemas.openxmlformats.org/officeDocument/2006/relationships/notesSlide" Target="/ppt/notesSlides/notesSlide5.xml" Id="R99ac3a826c984c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1e62d36d4415b" /><Relationship Type="http://schemas.openxmlformats.org/officeDocument/2006/relationships/image" Target="/ppt/media/image9.png" Id="R7ba107266ac04b47" /><Relationship Type="http://schemas.openxmlformats.org/officeDocument/2006/relationships/notesSlide" Target="/ppt/notesSlides/notesSlide6.xml" Id="Re3bc63fbfeaf4e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1bf02a30e4e87" /><Relationship Type="http://schemas.openxmlformats.org/officeDocument/2006/relationships/image" Target="/ppt/media/image10.png" Id="R3380321aef854a78" /><Relationship Type="http://schemas.openxmlformats.org/officeDocument/2006/relationships/notesSlide" Target="/ppt/notesSlides/notesSlide7.xml" Id="Ra9a3ee0c9bcc49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d001068074e5e" /><Relationship Type="http://schemas.openxmlformats.org/officeDocument/2006/relationships/image" Target="/ppt/media/image11.png" Id="R1ad1466f241d419d" /><Relationship Type="http://schemas.openxmlformats.org/officeDocument/2006/relationships/notesSlide" Target="/ppt/notesSlides/notesSlide8.xml" Id="Rf8b996f8820046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d58dd042b44b4" /><Relationship Type="http://schemas.openxmlformats.org/officeDocument/2006/relationships/image" Target="/ppt/media/image12.png" Id="R4552fb8fc59c4c1e" /><Relationship Type="http://schemas.openxmlformats.org/officeDocument/2006/relationships/image" Target="/ppt/media/image13.png" Id="R296f3cb1db644796" /><Relationship Type="http://schemas.openxmlformats.org/officeDocument/2006/relationships/notesSlide" Target="/ppt/notesSlides/notesSlide9.xml" Id="R9c616f047ab6460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9abcaee88143d2" /><Relationship Type="http://schemas.openxmlformats.org/officeDocument/2006/relationships/image" Target="/ppt/media/image14.png" Id="R4783e83e5a604ccf" /><Relationship Type="http://schemas.openxmlformats.org/officeDocument/2006/relationships/notesSlide" Target="/ppt/notesSlides/notesSlide10.xml" Id="R69135b890332447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8FA36-49DC-4EA9-85EE-D39620B3C7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921b10714144b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E409F-2A16-4988-A519-2F4D7AE5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5381625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071C30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74FBD-5083-4227-93A5-82A99A3F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PHISHING HOOK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86BFD-EB4E-4082-8F0B-6886EAD3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3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Don’t Bite</a:t>
            </a:r>
          </a:p>
          <a:p xmlns:a="http://schemas.openxmlformats.org/drawingml/2006/main">
            <a:pPr>
              <a:defRPr sz="43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the Hook!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1A7E6-8F49-481E-B148-91D28ADF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AI-powered phishing awareness for everyday users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9051B-939F-449E-BE2B-0CA03023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Ensign Build 2026 · Team 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15458-E86A-474F-B7D7-621C8203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48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phishhook.lol</a:t>
            </a:r>
          </a:p>
        </p:txBody>
      </p:sp>
    </p:spTree>
    <p:extLst>
      <p:ext uri="{BB962C8B-B14F-4D97-AF65-F5344CB8AC3E}">
        <p14:creationId xmlns:p14="http://schemas.microsoft.com/office/powerpoint/2010/main" val="3162805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30991-3C9D-4188-8EC5-4E18407F7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50d35480c447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E7183-0E6A-4653-8C84-2167ADE4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The phishing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36D98-6E7F-445C-837D-089E2C83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0C03B-551A-4CBD-A1FA-7BEBFD0B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40056-BE62-4A9A-962C-15066A03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Fraudulent messages create pressure before people have time to verify the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90843-7E23-4ABC-AB8D-5421065F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242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1391F-4FF7-4E35-9703-DFC44628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URGENCY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E36FB-0891-461B-9534-3F18A33C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“Act now”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87264-7615-4D93-9640-3B01CBAC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A deadline pushes the recipient toward a fast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E37BEC-2B59-484A-A0A1-8AA6224E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31242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F4B6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3667FE-31FF-4151-B466-1CDB84F0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FEAR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33F60-84FA-4C32-9D3E-DD21B814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004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“Your account will close”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90F37-D14F-4784-B74B-B9B41B75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A threat makes normal verification feel too slow.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43A5D-2FF7-499D-AC4A-9035A253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1242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788F3-AA1F-43FD-830A-3B143505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43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IMPERSONATION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26C02-D484-4184-BC88-979EF24E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00400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“This is support”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429D4-8956-49D6-866D-262B4661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0050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A familiar identity makes an unusual request feel legitimate.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E92B0-887E-4106-974A-78CF3B5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Phishing Hook makes these tactics visible and explains the safer next step.</a:t>
            </a:r>
          </a:p>
        </p:txBody>
      </p:sp>
    </p:spTree>
    <p:extLst>
      <p:ext uri="{BB962C8B-B14F-4D97-AF65-F5344CB8AC3E}">
        <p14:creationId xmlns:p14="http://schemas.microsoft.com/office/powerpoint/2010/main" val="125544141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F82A0-6BA1-4770-A5FA-42F8ABECAF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0563f7a65436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E1B22-7A00-42EB-BB8A-EAFBCD6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The Phishing Hook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105EF-8F70-4AE5-97EF-F7E1218F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2FA31-4DCF-4E8E-A90E-05F2BBB7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F0680-09C9-42D9-BFC9-40A55518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752475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71C30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A1446-1F4F-42A6-B3AA-461FFF7DA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fba3a9da294d8c"/>
          <a:stretch xmlns:a="http://schemas.openxmlformats.org/drawingml/2006/main"/>
        </p:blipFill>
        <p:spPr>
          <a:xfrm xmlns:a="http://schemas.openxmlformats.org/drawingml/2006/main">
            <a:off x="870585" y="1504950"/>
            <a:ext cx="6888480" cy="4305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F80D3-D33F-4608-B710-EEB257E5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430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One site, four ways to learn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1BD6E-709B-4587-B3C1-95F41C05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193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586B7-60E6-4AB1-9A9E-6512FE36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955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Paste a suspicious message and review the risk.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CB174-7F3D-40A3-A2E5-8756F267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A6F37-2FA0-46CB-A234-A60A6D8B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337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Learn common manipulation tactics.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E9AEB-3CBC-426C-902C-3012F770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REVISIT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9A85D-5258-4C43-B1EA-EA5D716C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719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Replay browser-local scan history.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CA657A-65DB-46CB-B723-5B42C692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33950"/>
            <a:ext cx="1066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6497C-BAD3-41D9-84CC-86BB44EE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10175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Review successful scans in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0373526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C6E2B0-ACFE-4D48-AA67-7AA44D3B2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37f7f561a436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2121B-1FEA-48DC-A2E7-188B9FD3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Email-to-analysis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FB55F-EA67-431A-9E6F-ADFC1573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B7CC9-2785-409A-AF39-15865D4A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8F061F-50FD-4BC8-B2BF-1634255F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11633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71C30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D6085-FA1C-4B2D-9DAE-16044A121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def3f478f4739">
            <a:extLst>
              <a:ext uri="{96DAC541-7B7A-43D3-8B79-37D633B846F1}">
                <asvg:svgBlip xmlns:asvg="http://schemas.microsoft.com/office/drawing/2016/SVG/main" r:embed="Raec1ad1a732942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28650" y="1485900"/>
            <a:ext cx="10934700" cy="3762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E5C91-A4AC-4F1D-BBFB-ABFBFDE7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AI runs only after the user opens the analyzer and chooses to start the full assessment.</a:t>
            </a:r>
          </a:p>
        </p:txBody>
      </p:sp>
    </p:spTree>
    <p:extLst>
      <p:ext uri="{BB962C8B-B14F-4D97-AF65-F5344CB8AC3E}">
        <p14:creationId xmlns:p14="http://schemas.microsoft.com/office/powerpoint/2010/main" val="17183173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7302A8-517F-496E-B3DF-5F4DF90966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a3f5657894f5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DC143-6EDC-4048-BB3C-519F096B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Analysis begins with user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02275-CE23-4282-921F-2EA5577B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C4E40-D397-4D60-87C7-108B06D6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463D9-198C-4B6F-A76F-A68DC60E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76962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71C30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BBD6C-674C-4598-B7FE-E034B7BE1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3417818544764"/>
          <a:stretch xmlns:a="http://schemas.openxmlformats.org/drawingml/2006/main"/>
        </p:blipFill>
        <p:spPr>
          <a:xfrm xmlns:a="http://schemas.openxmlformats.org/drawingml/2006/main">
            <a:off x="918210" y="1485900"/>
            <a:ext cx="6888480" cy="4305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CF30E-1858-44B9-BEC0-651B578D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430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The user stays in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FBD15-AD7F-49A3-9587-067E81F4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95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A4144-1D2A-4CCC-82C2-21032328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Review the imported message first.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91140-2806-416E-A9AF-47300E5A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194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AE4B8-586A-4B59-902D-B0AEDA7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004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Start AI analysis manually.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D2456-78E8-4F70-8145-2B3DC1CA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A7AAB-95DB-48B6-921F-79F8C6A6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243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Treat the score as a risk indicator.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950F3-F8AD-4E38-A2CF-326A86D5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46CB1-DF8D-4575-9F49-26A6F628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482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Avoid passwords and verification codes.</a:t>
            </a:r>
          </a:p>
        </p:txBody>
      </p:sp>
    </p:spTree>
    <p:extLst>
      <p:ext uri="{BB962C8B-B14F-4D97-AF65-F5344CB8AC3E}">
        <p14:creationId xmlns:p14="http://schemas.microsoft.com/office/powerpoint/2010/main" val="9514802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1F966-6848-4BB4-9E10-87CAF74B6E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107266ac04b4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6E887-0D9B-4F1D-AD72-21F4DE6A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What the analyzer returns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67D9F-9904-4A12-A344-4B3964DC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12030-AC4C-4D21-9FEB-13BB2672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066D2-8802-4A25-9DBD-D347683D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83D"/>
          </a:solidFill>
          <a:ln xmlns:a="http://schemas.openxmlformats.org/drawingml/2006/main" w="66675">
            <a:solidFill>
              <a:srgbClr val="F4B6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6EF9B-6E0F-417E-AE18-311C1395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0–100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FED27-2102-4CFB-A981-505A8385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risk indicator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960AA-C1AE-4183-92DA-0CFE2059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Low · Moderate · High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D9F6A-921A-4D90-8667-B9A0A564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76400"/>
            <a:ext cx="723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55CE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4CA278-617D-4269-BF21-BC43D4AA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47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A1A33-8E83-4F35-8756-52D83CBD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19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A concise explanation of the message’s overall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88263-0F6C-4DA2-BDF6-0B021BD5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05100"/>
            <a:ext cx="723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55CE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6C392-0D7B-4845-9F35-3580A833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76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WARNING FLAGS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B5C17-72FD-47AB-9706-9DDD76AA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479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Specific tactics such as urgency, impersonation, or credential requests.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7A5C9-8825-415A-9364-49D78681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33800"/>
            <a:ext cx="723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55CE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C841F-2D38-4FB9-B944-5E00F25D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05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0B0E2-4ECE-4E8A-85CE-E810ED0F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766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Plain-language reasoning that helps a nontechnical user understand the concern.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A1C7C-6199-4B0D-AB3E-FDE55EAF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723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9525">
            <a:solidFill>
              <a:srgbClr val="F4B6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3C7E81-12A2-4B17-80BE-E9D1B0BC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33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975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7E44B3-68D9-48C4-B52F-C4CD94AE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A practical action such as verifying through an official app or website.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34B9E-A3F1-4C48-A227-EA6A7BC0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The model treats submitted content as untrusted evidence and receives instructions not to follow links or commands inside it.</a:t>
            </a:r>
          </a:p>
        </p:txBody>
      </p:sp>
    </p:spTree>
    <p:extLst>
      <p:ext uri="{BB962C8B-B14F-4D97-AF65-F5344CB8AC3E}">
        <p14:creationId xmlns:p14="http://schemas.microsoft.com/office/powerpoint/2010/main" val="7531481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209BA-C9BF-4A00-BC49-F1432E67BD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0321aef854a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4C700-C250-476B-A723-1EC0B3C7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Technology and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8D999D-C600-4CC7-BF79-F9C61F7F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5F333-04F6-436B-8FD0-12E5CE80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55017-A10F-4B2D-A98F-6CF34186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66850"/>
            <a:ext cx="1000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F8175-377E-4475-A4B7-E640EC30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666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CADD0-9CA4-4E1F-BC16-DDA0A9E2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287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React 19 · TypeScript 6 · Vite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C656E-5F36-47F7-9B75-BAEA0044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95550"/>
            <a:ext cx="1000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9BE6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A437C-4524-4520-AF40-9109C530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95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EDGE 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ADC66-E334-4EE3-A880-5C31662F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574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Cloudflare Worker · Static Assets · SPA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0163D-8ACB-4452-9EA1-DEDA4582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1000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F4B6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364A9-123C-486A-9B76-B0AF2C14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242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A9587-02E6-43EE-B8A7-A384FD0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Workers AI · Gemma 4 · normalized risk assessment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D4DBA-D402-4804-A4C2-3B5E91D6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52950"/>
            <a:ext cx="1000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7AD9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501FA-2C86-4B0D-A7BC-81B220AC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529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7AD9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7AD9A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AD9A5"/>
                </a:solidFill>
                <a:latin typeface="Arial"/>
                <a:ea typeface="Arial"/>
                <a:cs typeface="Arial"/>
              </a:rPr>
              <a:t>EMAIL AND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94944-4DC7-420E-A79E-A9454DE9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14875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Email Routing · Email Workers · KV · MIME parsing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A0CAF-39CF-474E-A111-425317B6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43575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Wrangler manages local development and deployment. Vitest, ESLint, Oxlint, TypeScript, GitHub Actions, and CodeQL protect quality.</a:t>
            </a:r>
          </a:p>
        </p:txBody>
      </p:sp>
    </p:spTree>
    <p:extLst>
      <p:ext uri="{BB962C8B-B14F-4D97-AF65-F5344CB8AC3E}">
        <p14:creationId xmlns:p14="http://schemas.microsoft.com/office/powerpoint/2010/main" val="13748381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13FDA-F111-4550-A2A6-E31A728D64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1466f241d419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FDF44-F443-401E-8095-A443F612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Privacy and safety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167923-0155-419E-A879-0A18233D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F1641-941F-4046-94CF-6846F90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F5AEF-6A56-4B72-AAF4-7B64E0C7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5048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6C325-65B3-461C-82A6-A3B5AA0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EMAIL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D348D-1548-4575-BF94-C2462CF3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Temporary storage with clear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3AB27-1AE9-4FF8-A5E1-D5890BDD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4191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Parsed body and expiry time only</a:t>
            </a:r>
          </a:p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128-bit random bearer token</a:t>
            </a:r>
          </a:p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Hashed KV storage key</a:t>
            </a:r>
          </a:p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24-hour default expiry</a:t>
            </a:r>
          </a:p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No raw MIME or attachments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F96DF-D19D-42E2-A4CB-9A013258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485900"/>
            <a:ext cx="5048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283D"/>
          </a:solidFill>
          <a:ln xmlns:a="http://schemas.openxmlformats.org/drawingml/2006/main" w="19050">
            <a:solidFill>
              <a:srgbClr val="F4B6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433F4-E5D9-4E3C-A904-E8923B0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90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ANALYZER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1973C-1B0E-4F4D-9CC8-39D87686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191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Human review before AI submission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F6DFB-2E5E-49FC-BB7A-A994EBCB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48000"/>
            <a:ext cx="4191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No automatic AI call from email</a:t>
            </a:r>
          </a:p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Imported text stays out of saved drafts</a:t>
            </a:r>
          </a:p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No-store retrieval request and response</a:t>
            </a:r>
          </a:p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Private email session history excluded</a:t>
            </a:r>
          </a:p>
          <a:p xmlns:a="http://schemas.openxmlformats.org/drawingml/2006/main">
            <a:pPr>
              <a:defRPr sz="1425" b="0" i="0">
                <a:solidFill>
                  <a:srgbClr val="B9D3D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D3DA"/>
                </a:solidFill>
                <a:latin typeface="Arial"/>
                <a:ea typeface="Arial"/>
                <a:cs typeface="Arial"/>
              </a:rPr>
              <a:t>• Risk indicator carries a clear limitation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17AF4-156C-4FCD-B8FE-2161ECFE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The architecture targets Cloudflare’s available free allowances. Account-wide quotas still apply.</a:t>
            </a:r>
          </a:p>
        </p:txBody>
      </p:sp>
    </p:spTree>
    <p:extLst>
      <p:ext uri="{BB962C8B-B14F-4D97-AF65-F5344CB8AC3E}">
        <p14:creationId xmlns:p14="http://schemas.microsoft.com/office/powerpoint/2010/main" val="6358624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6E8047-C83C-41FB-B98D-4CDFFCB16D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2fb8fc59c4c1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65065-09B9-4F86-9C47-6E99FA7A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Ensign Build 2026 Team 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1EEEE-6578-484D-816D-46E8D581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E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659C9-FA66-48B9-AC21-3A054D8F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5143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87FDA-3555-4748-BA3F-490C990B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095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C30"/>
          </a:solidFill>
          <a:ln xmlns:a="http://schemas.openxmlformats.org/drawingml/2006/main" w="19050">
            <a:solidFill>
              <a:srgbClr val="F4B640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2A6E4-0413-4FDE-A544-F917400D14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f3cb1db644796"/>
          <a:stretch xmlns:a="http://schemas.openxmlformats.org/drawingml/2006/main"/>
        </p:blipFill>
        <p:spPr>
          <a:xfrm xmlns:a="http://schemas.openxmlformats.org/drawingml/2006/main">
            <a:off x="1066800" y="2137029"/>
            <a:ext cx="3486150" cy="260299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AE625-317E-4A1F-8FA1-C9AAF1D8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Phishing Hook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B78FB-3ED7-420E-AE20-6B99892F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241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AAE43-C390-4F71-9271-1D34EB5D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Aaron Smith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CBBEA-CF46-406E-BE19-7A3F07A1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14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F9B50-4156-437C-9F9F-67DA5393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Ammon Shelley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E1E73-3B51-4936-9E2B-94BF4A0C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052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55CED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5CED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7B7A9-DA31-4BEA-BF8B-B6DC15D0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Andre Martinez Vasquez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91AD7-AED0-4110-BAFF-1927FBFD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957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07A72-1E85-49FD-9CDD-B0F9B96C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Anil Bolukbasioglu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BCFB2-F73E-4585-9ED1-586B51E4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863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FBD4B-4518-4941-BE2D-235172DA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Reyna Rodriguez Ruiz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F702E-A66C-45C8-AD87-152A332A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769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AI integration · cybersecurity education · user-centered design</a:t>
            </a:r>
          </a:p>
        </p:txBody>
      </p:sp>
    </p:spTree>
    <p:extLst>
      <p:ext uri="{BB962C8B-B14F-4D97-AF65-F5344CB8AC3E}">
        <p14:creationId xmlns:p14="http://schemas.microsoft.com/office/powerpoint/2010/main" val="18142651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49520-023B-4B81-8A54-42ECC694AF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3e83e5a604cc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6EF22-AF0E-46AA-89DF-4EC9196C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533400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071C30"/>
          </a:solidFill>
          <a:ln xmlns:a="http://schemas.openxmlformats.org/drawingml/2006/main" w="19050">
            <a:solidFill>
              <a:srgbClr val="55CED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AC7D3-44D6-42CC-AC11-42C1D2A2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4572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Don’t Bite</a:t>
            </a:r>
          </a:p>
          <a:p xmlns:a="http://schemas.openxmlformats.org/drawingml/2006/main">
            <a:pPr>
              <a:defRPr sz="420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the Hook!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A6487-6D99-4952-9FDE-882B8949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 i="0">
                <a:solidFill>
                  <a:srgbClr val="9BE6E7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9BE6E7"/>
                </a:solidFill>
                <a:latin typeface="Arial"/>
                <a:ea typeface="Arial"/>
                <a:cs typeface="Arial"/>
              </a:rPr>
              <a:t>Pause. Verify through a trusted channel. Decide with better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1CF65-B0AA-4AEC-B7DA-0DCAE391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 i="0">
                <a:solidFill>
                  <a:srgbClr val="F4B64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4B640"/>
                </a:solidFill>
                <a:latin typeface="Arial"/>
                <a:ea typeface="Arial"/>
                <a:cs typeface="Arial"/>
              </a:rPr>
              <a:t>phishhook.lol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E34CF-2E99-4F70-BD35-2DDFDE4B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 i="0">
                <a:solidFill>
                  <a:srgbClr val="F8F5E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8F5ED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5852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2026-10-10T17:22:12.5170000Z</dcterms:created>
  <dcterms:modified xsi:type="dcterms:W3CDTF">2026-10-10T17:22:12.5170000Z</dcterms:modified>
</coreProperties>
</file>