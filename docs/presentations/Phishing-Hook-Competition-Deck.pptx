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c497d73a9a49e6" /><Relationship Type="http://schemas.openxmlformats.org/officeDocument/2006/relationships/extended-properties" Target="/docProps/app.xml" Id="Ra55985b65a2e4df3" /><Relationship Type="http://schemas.openxmlformats.org/officeDocument/2006/relationships/officeDocument" Target="/ppt/presentation.xml" Id="R854708b91f1d4f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9296b3cf29449e"/>
  </p:sldMasterIdLst>
  <p:notesMasterIdLst>
    <p:notesMasterId xmlns:r="http://schemas.openxmlformats.org/officeDocument/2006/relationships" r:id="R8ab2f7b9c27e4f03"/>
  </p:notesMasterIdLst>
  <p:sldIdLst>
    <p:sldId xmlns:r="http://schemas.openxmlformats.org/officeDocument/2006/relationships" id="256" r:id="R9ee3d3ece0704b9f"/>
    <p:sldId xmlns:r="http://schemas.openxmlformats.org/officeDocument/2006/relationships" id="257" r:id="R13841b353ea24693"/>
    <p:sldId xmlns:r="http://schemas.openxmlformats.org/officeDocument/2006/relationships" id="258" r:id="R93d4d146951f4721"/>
    <p:sldId xmlns:r="http://schemas.openxmlformats.org/officeDocument/2006/relationships" id="259" r:id="R9ca94ea9f1b54a28"/>
    <p:sldId xmlns:r="http://schemas.openxmlformats.org/officeDocument/2006/relationships" id="260" r:id="Rdc210d3de05240e9"/>
    <p:sldId xmlns:r="http://schemas.openxmlformats.org/officeDocument/2006/relationships" id="261" r:id="R61d3381e359d4020"/>
    <p:sldId xmlns:r="http://schemas.openxmlformats.org/officeDocument/2006/relationships" id="262" r:id="Rddd258c7f82f4813"/>
    <p:sldId xmlns:r="http://schemas.openxmlformats.org/officeDocument/2006/relationships" id="263" r:id="Rb00dcd3ee7084753"/>
    <p:sldId xmlns:r="http://schemas.openxmlformats.org/officeDocument/2006/relationships" id="264" r:id="Re9ddef471a114163"/>
    <p:sldId xmlns:r="http://schemas.openxmlformats.org/officeDocument/2006/relationships" id="265" r:id="Rea1827afd6814e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43447df1184729" /><Relationship Type="http://schemas.openxmlformats.org/officeDocument/2006/relationships/slideMaster" Target="/ppt/slideMasters/slideMaster1.xml" Id="R459296b3cf29449e" /><Relationship Type="http://schemas.openxmlformats.org/officeDocument/2006/relationships/notesMaster" Target="/ppt/notesMasters/notesMaster1.xml" Id="R8ab2f7b9c27e4f03" /><Relationship Type="http://schemas.openxmlformats.org/officeDocument/2006/relationships/presProps" Target="/ppt/presProps.xml" Id="R9599e81378cd425c" /><Relationship Type="http://schemas.openxmlformats.org/officeDocument/2006/relationships/tableStyles" Target="/ppt/tableStyles.xml" Id="R7176c2e0c2d044ee" /><Relationship Type="http://schemas.openxmlformats.org/officeDocument/2006/relationships/slide" Target="/ppt/slides/slide1.xml" Id="R9ee3d3ece0704b9f" /><Relationship Type="http://schemas.openxmlformats.org/officeDocument/2006/relationships/slide" Target="/ppt/slides/slide2.xml" Id="R13841b353ea24693" /><Relationship Type="http://schemas.openxmlformats.org/officeDocument/2006/relationships/slide" Target="/ppt/slides/slide3.xml" Id="R93d4d146951f4721" /><Relationship Type="http://schemas.openxmlformats.org/officeDocument/2006/relationships/slide" Target="/ppt/slides/slide4.xml" Id="R9ca94ea9f1b54a28" /><Relationship Type="http://schemas.openxmlformats.org/officeDocument/2006/relationships/slide" Target="/ppt/slides/slide5.xml" Id="Rdc210d3de05240e9" /><Relationship Type="http://schemas.openxmlformats.org/officeDocument/2006/relationships/slide" Target="/ppt/slides/slide6.xml" Id="R61d3381e359d4020" /><Relationship Type="http://schemas.openxmlformats.org/officeDocument/2006/relationships/slide" Target="/ppt/slides/slide7.xml" Id="Rddd258c7f82f4813" /><Relationship Type="http://schemas.openxmlformats.org/officeDocument/2006/relationships/slide" Target="/ppt/slides/slide8.xml" Id="Rb00dcd3ee7084753" /><Relationship Type="http://schemas.openxmlformats.org/officeDocument/2006/relationships/slide" Target="/ppt/slides/slide9.xml" Id="Re9ddef471a114163" /><Relationship Type="http://schemas.openxmlformats.org/officeDocument/2006/relationships/slide" Target="/ppt/slides/slide10.xml" Id="Rea1827afd6814e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f9e8b2df8548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621c2898094f97" /><Relationship Type="http://schemas.openxmlformats.org/officeDocument/2006/relationships/notesMaster" Target="/ppt/notesMasters/notesMaster1.xml" Id="Rf281f5c84fcb49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605141e25c407f" /><Relationship Type="http://schemas.openxmlformats.org/officeDocument/2006/relationships/notesMaster" Target="/ppt/notesMasters/notesMaster1.xml" Id="R75bb8a7935a044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ba46628d2045ac" /><Relationship Type="http://schemas.openxmlformats.org/officeDocument/2006/relationships/notesMaster" Target="/ppt/notesMasters/notesMaster1.xml" Id="Rf84e98ffea2744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5e8aba8916417d" /><Relationship Type="http://schemas.openxmlformats.org/officeDocument/2006/relationships/notesMaster" Target="/ppt/notesMasters/notesMaster1.xml" Id="Reb8e06506d1c4c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272068bc764404" /><Relationship Type="http://schemas.openxmlformats.org/officeDocument/2006/relationships/notesMaster" Target="/ppt/notesMasters/notesMaster1.xml" Id="Rbd2a0ea96ddb40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7f3d1cf12e491f" /><Relationship Type="http://schemas.openxmlformats.org/officeDocument/2006/relationships/notesMaster" Target="/ppt/notesMasters/notesMaster1.xml" Id="Rd010abfc01644d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a4463009b74ab5" /><Relationship Type="http://schemas.openxmlformats.org/officeDocument/2006/relationships/notesMaster" Target="/ppt/notesMasters/notesMaster1.xml" Id="R9283af367c0544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cc3682e08f4a89" /><Relationship Type="http://schemas.openxmlformats.org/officeDocument/2006/relationships/notesMaster" Target="/ppt/notesMasters/notesMaster1.xml" Id="R9a8171b339c548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48da9e755f4fd4" /><Relationship Type="http://schemas.openxmlformats.org/officeDocument/2006/relationships/notesMaster" Target="/ppt/notesMasters/notesMaster1.xml" Id="R006bb41d22a44c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328b307d5344ad" /><Relationship Type="http://schemas.openxmlformats.org/officeDocument/2006/relationships/notesMaster" Target="/ppt/notesMasters/notesMaster1.xml" Id="R9761d17dcbf641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Phishing Hook helps people recognize manipulation before they act on a suspicious message.</a:t>
            </a:r>
          </a:p>
          <a:p xmlns:a="http://schemas.openxmlformats.org/drawingml/2006/main">
            <a:r>
              <a:t>Phil the Phish is the antagonist who represents the phisher setting the bait.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https://phishhook.lol/</a:t>
            </a:r>
          </a:p>
          <a:p xmlns:a="http://schemas.openxmlformats.org/drawingml/2006/main">
            <a:r>
              <a:t>- Repository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short example for each tactic. Emphasize that phishing often combines pressure with a trusted identity.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 README.md, Project summary and Capabilities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screenshot comes from the deployed website.</a:t>
            </a:r>
          </a:p>
          <a:p xmlns:a="http://schemas.openxmlformats.org/drawingml/2006/main">
            <a:r>
              <a:t>The product combines direct analysis with training, history, and a browser-local dashboard.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https://phishhook.lol/</a:t>
            </a:r>
          </a:p>
          <a:p xmlns:a="http://schemas.openxmlformats.org/drawingml/2006/main">
            <a:r>
              <a:t>- Repository README.md, Training and browser-local tools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Flow: forward email, receive a quick local rating, open the expiring token link, review the message, then start Workers AI.</a:t>
            </a:r>
          </a:p>
          <a:p xmlns:a="http://schemas.openxmlformats.org/drawingml/2006/main">
            <a:r>
              <a:t>The inbound email handler supports plain text and HTML-only email. Attachments and oversized messages receive the normal analysis link.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 README.md, Receive and reply to inbound email</a:t>
            </a:r>
          </a:p>
          <a:p xmlns:a="http://schemas.openxmlformats.org/drawingml/2006/main">
            <a:r>
              <a:t>- Repository docs/inbound-email.md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screenshot uses the live deployed analyzer with a prefilled suspicious message.</a:t>
            </a:r>
          </a:p>
          <a:p xmlns:a="http://schemas.openxmlformats.org/drawingml/2006/main">
            <a:r>
              <a:t>The flow does not automatically submit imported email content to AI.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https://phishhook.lol/#analyze</a:t>
            </a:r>
          </a:p>
          <a:p xmlns:a="http://schemas.openxmlformats.org/drawingml/2006/main">
            <a:r>
              <a:t>- Repository README.md, Analyse suspicious messages and Privacy and safety behavior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AI output includes a score, level, summary, flags, explanation, and advice.</a:t>
            </a:r>
          </a:p>
          <a:p xmlns:a="http://schemas.openxmlformats.org/drawingml/2006/main">
            <a:r>
              <a:t>The score supports human judgment. It does not guarantee that a message is safe or malicious.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 README.md, Analyse suspicious messages</a:t>
            </a:r>
          </a:p>
          <a:p xmlns:a="http://schemas.openxmlformats.org/drawingml/2006/main">
            <a:r>
              <a:t>- Repository src/index.js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architecture from the user interface down to email and temporary state.</a:t>
            </a:r>
          </a:p>
          <a:p xmlns:a="http://schemas.openxmlformats.org/drawingml/2006/main">
            <a:r>
              <a:t>Workers AI model configured in the repository: @cf/google/gemma-4-26b-a4b-it.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 README.md, Technology and Architecture</a:t>
            </a:r>
          </a:p>
          <a:p xmlns:a="http://schemas.openxmlformats.org/drawingml/2006/main">
            <a:r>
              <a:t>- Repository wrangler.jsonc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Privacy is part of the product design, especially for inbound email.</a:t>
            </a:r>
          </a:p>
          <a:p xmlns:a="http://schemas.openxmlformats.org/drawingml/2006/main">
            <a:r>
              <a:t>Tokens are bearer credentials, so anyone with the link can read the stored body until expiry.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 README.md, Privacy and safety behavior and Cost model</a:t>
            </a:r>
          </a:p>
          <a:p xmlns:a="http://schemas.openxmlformats.org/drawingml/2006/main">
            <a:r>
              <a:t>- Repository docs/inbound-email.md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each team member according to the competition format.</a:t>
            </a:r>
          </a:p>
          <a:p xmlns:a="http://schemas.openxmlformats.org/drawingml/2006/main">
            <a:r>
              <a:t>Source: Repository README.md, Team 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live site and invite questions or a product demonstration.</a:t>
            </a:r>
          </a:p>
          <a:p xmlns:a="http://schemas.openxmlformats.org/drawingml/2006/main">
            <a:r>
              <a:t>Source: https://phishhook.lol/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21e4df50854bd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c6b06393094b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d3e6bacc984c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189ba4038f4f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2f9417fba041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f234e5cb3041c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D8FAFC-8528-4CF7-912D-6C5CEAB052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65A3043-F859-4681-B0CF-D2F16FD427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550478-768F-4A01-B530-A5042FEF65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3B38D4-8F7F-4AF4-B74B-61368E1495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275953-6C86-4C6D-B133-7EC906FA53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7C1EDE5-A6D4-4467-84FF-B7ED1D59F7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A22301-0F5E-4331-9FF8-F27576F75C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99E86C9-EC37-4A62-A166-BBB8792BD64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0AAADB-D9E6-476A-97C7-B91160BB70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AA3D2E-D11A-485F-A416-E20BF0BA00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025e67aebd46ed" /><Relationship Type="http://schemas.openxmlformats.org/officeDocument/2006/relationships/slideLayout" Target="/ppt/slideLayouts/slideLayout1.xml" Id="R719c710c44aa49c6" /><Relationship Type="http://schemas.openxmlformats.org/officeDocument/2006/relationships/slideLayout" Target="/ppt/slideLayouts/slideLayout2.xml" Id="Re6d2c684fd4c433f" /><Relationship Type="http://schemas.openxmlformats.org/officeDocument/2006/relationships/slideLayout" Target="/ppt/slideLayouts/slideLayout3.xml" Id="R05e00c7d8f0843a4" /><Relationship Type="http://schemas.openxmlformats.org/officeDocument/2006/relationships/slideLayout" Target="/ppt/slideLayouts/slideLayout4.xml" Id="R7f36587d48154f3a" /><Relationship Type="http://schemas.openxmlformats.org/officeDocument/2006/relationships/slideLayout" Target="/ppt/slideLayouts/slideLayout5.xml" Id="Rd08cebffba80496c" /><Relationship Type="http://schemas.openxmlformats.org/officeDocument/2006/relationships/slideLayout" Target="/ppt/slideLayouts/slideLayout6.xml" Id="R04d0f22e16b64d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9c710c44aa49c6"/>
    <p:sldLayoutId xmlns:r="http://schemas.openxmlformats.org/officeDocument/2006/relationships" id="2147483650" r:id="Re6d2c684fd4c433f"/>
    <p:sldLayoutId xmlns:r="http://schemas.openxmlformats.org/officeDocument/2006/relationships" id="2147483651" r:id="R05e00c7d8f0843a4"/>
    <p:sldLayoutId xmlns:r="http://schemas.openxmlformats.org/officeDocument/2006/relationships" id="2147483652" r:id="R7f36587d48154f3a"/>
    <p:sldLayoutId xmlns:r="http://schemas.openxmlformats.org/officeDocument/2006/relationships" id="2147483653" r:id="Rd08cebffba80496c"/>
    <p:sldLayoutId xmlns:r="http://schemas.openxmlformats.org/officeDocument/2006/relationships" id="2147483654" r:id="R04d0f22e16b64d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08429abddd489f" /><Relationship Type="http://schemas.openxmlformats.org/officeDocument/2006/relationships/image" Target="/ppt/media/image.png" Id="R2579211a67ec4aee" /><Relationship Type="http://schemas.openxmlformats.org/officeDocument/2006/relationships/notesSlide" Target="/ppt/notesSlides/notesSlide1.xml" Id="Rfae2b474aacb44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e579d9d6b14773" /><Relationship Type="http://schemas.openxmlformats.org/officeDocument/2006/relationships/image" Target="/ppt/media/image2.png" Id="R3667a507659c4433" /><Relationship Type="http://schemas.openxmlformats.org/officeDocument/2006/relationships/notesSlide" Target="/ppt/notesSlides/notesSlide2.xml" Id="Rd9a91e38a8bd4b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bcc94e388a4221" /><Relationship Type="http://schemas.openxmlformats.org/officeDocument/2006/relationships/image" Target="/ppt/media/image3.png" Id="Rf947c5dc028b4272" /><Relationship Type="http://schemas.openxmlformats.org/officeDocument/2006/relationships/image" Target="/ppt/media/image4.png" Id="R8f43ee2ac1aa4735" /><Relationship Type="http://schemas.openxmlformats.org/officeDocument/2006/relationships/notesSlide" Target="/ppt/notesSlides/notesSlide3.xml" Id="R8cda83dd899e49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1bdfe8f6054cec" /><Relationship Type="http://schemas.openxmlformats.org/officeDocument/2006/relationships/image" Target="/ppt/media/image5.png" Id="R3892de9247f84b02" /><Relationship Type="http://schemas.openxmlformats.org/officeDocument/2006/relationships/image" Target="/ppt/media/image6.png" Id="R15a54dcdd29f411c" /><Relationship Type="http://schemas.openxmlformats.org/officeDocument/2006/relationships/image" Target="/ppt/media/image.svg" Id="Rffd4b751dbff44b8" /><Relationship Type="http://schemas.openxmlformats.org/officeDocument/2006/relationships/notesSlide" Target="/ppt/notesSlides/notesSlide4.xml" Id="R544081777b7f4b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e1dea7b9804dff" /><Relationship Type="http://schemas.openxmlformats.org/officeDocument/2006/relationships/image" Target="/ppt/media/image7.png" Id="R43b5995f8e0145f1" /><Relationship Type="http://schemas.openxmlformats.org/officeDocument/2006/relationships/image" Target="/ppt/media/image8.png" Id="R90e0adc663c24c66" /><Relationship Type="http://schemas.openxmlformats.org/officeDocument/2006/relationships/notesSlide" Target="/ppt/notesSlides/notesSlide5.xml" Id="R19443111655f41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f375286fc647e2" /><Relationship Type="http://schemas.openxmlformats.org/officeDocument/2006/relationships/image" Target="/ppt/media/image9.png" Id="Re0c238ead8804eab" /><Relationship Type="http://schemas.openxmlformats.org/officeDocument/2006/relationships/notesSlide" Target="/ppt/notesSlides/notesSlide6.xml" Id="R83a7cfa8255342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48ae58b224485f" /><Relationship Type="http://schemas.openxmlformats.org/officeDocument/2006/relationships/image" Target="/ppt/media/image10.png" Id="R26597ba7bd354765" /><Relationship Type="http://schemas.openxmlformats.org/officeDocument/2006/relationships/notesSlide" Target="/ppt/notesSlides/notesSlide7.xml" Id="R03e5b1000b7a45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8b33d4a0b74f79" /><Relationship Type="http://schemas.openxmlformats.org/officeDocument/2006/relationships/image" Target="/ppt/media/image11.png" Id="Raa3b87fd73b24a87" /><Relationship Type="http://schemas.openxmlformats.org/officeDocument/2006/relationships/notesSlide" Target="/ppt/notesSlides/notesSlide8.xml" Id="Rd6447f1dca144c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f092123c904e3a" /><Relationship Type="http://schemas.openxmlformats.org/officeDocument/2006/relationships/image" Target="/ppt/media/image12.png" Id="Rb9b7b4258db54132" /><Relationship Type="http://schemas.openxmlformats.org/officeDocument/2006/relationships/image" Target="/ppt/media/image13.png" Id="R6a27ac5c62f6468f" /><Relationship Type="http://schemas.openxmlformats.org/officeDocument/2006/relationships/notesSlide" Target="/ppt/notesSlides/notesSlide9.xml" Id="Rba0f4b7cf6b041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ad44a29a804abf" /><Relationship Type="http://schemas.openxmlformats.org/officeDocument/2006/relationships/image" Target="/ppt/media/image14.png" Id="R0178fb897db44ca9" /><Relationship Type="http://schemas.openxmlformats.org/officeDocument/2006/relationships/notesSlide" Target="/ppt/notesSlides/notesSlide10.xml" Id="R0a5a3c0e7b3a4a2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3D57F-794F-4DDD-AD0C-99249DB870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9211a67ec4ae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59A38-28C3-4FBD-8BFC-1220B347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62050"/>
            <a:ext cx="5381625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071C30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E65125-E7B8-4D28-8476-B9837F63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049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PHISHING HOOK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8879CA-D7EF-4C84-BDFB-1807BEB7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47625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Don’t Bite</a:t>
            </a:r>
          </a:p>
          <a:p xmlns:a="http://schemas.openxmlformats.org/drawingml/2006/main">
            <a:pPr>
              <a:defRPr sz="43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the Hook!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33F576-554C-4261-A886-8199B0BD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428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AI-powered phishing awareness for everyday users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41D35-E82F-484A-9166-999E246F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Ensign Build 2026 · Team 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FD89F-096F-4CB9-99DD-03529B84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483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phishhook.lol</a:t>
            </a:r>
          </a:p>
        </p:txBody>
      </p:sp>
    </p:spTree>
    <p:extLst>
      <p:ext uri="{BB962C8B-B14F-4D97-AF65-F5344CB8AC3E}">
        <p14:creationId xmlns:p14="http://schemas.microsoft.com/office/powerpoint/2010/main" val="109661103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E7CDAE-D280-4853-8804-BDC809FE78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7a507659c443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7CCF3-C8A4-42F2-A028-14647448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The phishing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C576AD-BAA0-4827-A1B1-76E5552F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E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F14C9-DF73-4D88-B8E5-B9684F78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4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853D3-2F16-4F54-9F1E-0CA1386B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Fraudulent messages create pressure before people have time to verify the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DE8A1-8FD5-4F8F-AFB0-8DCD675C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1242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D1D2FD-A6DB-4156-AD20-57651522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432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URGENCY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280D0B-699B-47AC-9C67-A531DCF4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04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“Act now”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8B293-A5A1-4664-969E-446B0296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A deadline pushes the recipient toward a fast decision.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E3EEBB-252C-40F4-BB42-645D2F99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76500"/>
            <a:ext cx="31242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F4B64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A50C1-D124-4E06-9FF5-BEF6AC3E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432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FEAR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76113E-367B-489E-80E9-E9CCBFC1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004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“Your account will close”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B93F8A-FCE6-40E9-B424-D154730C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005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A threat makes normal verification feel too slow.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54F3F-8437-4DE8-9F48-B75E1B88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31242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FA1649-773D-4D8B-88D4-26DA365A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7432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IMPERSONATION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867C6-413D-4AC4-ACAE-D77CDB7B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004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“This is support”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DC893-148F-4C41-8136-02843E5E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005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A familiar identity makes an unusual request feel legitimate.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FE4029-A4C7-471F-A5F4-95766734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Phishing Hook makes these tactics visible and explains the safer next step.</a:t>
            </a:r>
          </a:p>
        </p:txBody>
      </p:sp>
    </p:spTree>
    <p:extLst>
      <p:ext uri="{BB962C8B-B14F-4D97-AF65-F5344CB8AC3E}">
        <p14:creationId xmlns:p14="http://schemas.microsoft.com/office/powerpoint/2010/main" val="8242952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8E11A-D3ED-4F58-8C14-C863D0D6BE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47c5dc028b427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51FAE-6D5C-4C06-8D37-D824F858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The Phishing Hook experience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5BE758-8CCD-4690-9437-76E1E973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E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2689D-F3DE-47DF-A27C-1FA3CFF1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4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754ECA-5F77-4322-8AE8-4D914623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7524750" cy="4572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071C30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7B74C9-C77E-4126-BAB2-16DC79333D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3ee2ac1aa4735"/>
          <a:stretch xmlns:a="http://schemas.openxmlformats.org/drawingml/2006/main"/>
        </p:blipFill>
        <p:spPr>
          <a:xfrm xmlns:a="http://schemas.openxmlformats.org/drawingml/2006/main">
            <a:off x="870585" y="1504950"/>
            <a:ext cx="6888480" cy="4305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E5A31-201D-47F3-A303-8279796B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430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One site, four ways to 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47191-92C4-41EF-BD5E-73917405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19350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ANALYZE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181EA-1179-4592-9623-84F33D84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95575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Paste a suspicious message and review the risk.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114299-A222-430F-8E87-44ACCF9B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57550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70734C-971F-4849-9414-2FAA17A6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33775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Learn common manipulation tactics.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AAA3C3-BEE9-4CB8-A961-56F161C7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REVISIT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91B28-0576-43D8-8F7B-BB42A77E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71975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Replay browser-local scan history.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BFCA8C-B475-4FBD-8F69-A336C279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33950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TRACK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67BAAA-0D21-4E33-B10D-DA317BB6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10175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Review successful scans in the dashboard.</a:t>
            </a:r>
          </a:p>
        </p:txBody>
      </p:sp>
    </p:spTree>
    <p:extLst>
      <p:ext uri="{BB962C8B-B14F-4D97-AF65-F5344CB8AC3E}">
        <p14:creationId xmlns:p14="http://schemas.microsoft.com/office/powerpoint/2010/main" val="17064855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5AD58E-6211-41D6-A0E0-F8D05704BC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2de9247f84b0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1C3EA5-7BAE-4B63-A740-148C3479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Email-to-analysis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A4DED-73FF-4E33-BB75-A040563E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E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0D85D8-2421-4C9E-A131-62BAA4FA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4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6F33FC-6F0E-4984-AF9C-35E523FB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C30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36FF5-5AAD-4BDE-88EE-23E205D667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54dcdd29f411c">
            <a:extLst>
              <a:ext uri="{96DAC541-7B7A-43D3-8B79-37D633B846F1}">
                <asvg:svgBlip xmlns:asvg="http://schemas.microsoft.com/office/drawing/2016/SVG/main" r:embed="Rffd4b751dbff44b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28650" y="1485900"/>
            <a:ext cx="10934700" cy="37623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2ECBC-ADBF-4C31-B0E7-DE8AC474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7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AI runs only after the user opens the analyzer and chooses to start the full assessment.</a:t>
            </a:r>
          </a:p>
        </p:txBody>
      </p:sp>
    </p:spTree>
    <p:extLst>
      <p:ext uri="{BB962C8B-B14F-4D97-AF65-F5344CB8AC3E}">
        <p14:creationId xmlns:p14="http://schemas.microsoft.com/office/powerpoint/2010/main" val="190685140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271AA5-C147-49BA-B42F-D8E990D2A3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b5995f8e0145f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A494B-1FF5-4412-BD15-ACC2DE46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Analysis begins with user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5D00C-E265-497F-BF07-029D9798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E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7A177-13BB-4D94-BA0F-4B951203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4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618D3-56BC-44FC-9BD6-5A404A51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7696200" cy="4572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071C30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503223-D977-45F0-B12E-510E3D380C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0adc663c24c66"/>
          <a:stretch xmlns:a="http://schemas.openxmlformats.org/drawingml/2006/main"/>
        </p:blipFill>
        <p:spPr>
          <a:xfrm xmlns:a="http://schemas.openxmlformats.org/drawingml/2006/main">
            <a:off x="918210" y="1485900"/>
            <a:ext cx="6888480" cy="4305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BE9B5D-2647-4163-9D01-0C29C7FF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430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The user stays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E5198-5410-4305-A9E9-07CB42AA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955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9913E-E381-49A3-BDCD-4D9B5CFE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76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Review the imported message first.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50B51-1006-4E7C-85DD-47299817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9C0396-E0C2-401C-B52F-54053E46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004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Start AI analysis manually.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CB238-2A09-46CF-ADDA-415957CC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1A1CDC-1F46-424F-8728-D3A6813D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9243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Treat the score as a risk indicator.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FBC58F-8314-4FC6-BD2C-F3962B0E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672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9D31F-E285-4453-AE24-E942A836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6482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Avoid passwords and verification codes.</a:t>
            </a:r>
          </a:p>
        </p:txBody>
      </p:sp>
    </p:spTree>
    <p:extLst>
      <p:ext uri="{BB962C8B-B14F-4D97-AF65-F5344CB8AC3E}">
        <p14:creationId xmlns:p14="http://schemas.microsoft.com/office/powerpoint/2010/main" val="18707868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15E88D-E3CA-4C43-AA39-094119ABC9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238ead8804ea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35E7F9-2A1E-47C2-90EA-722E20A4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What the analyzer returns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56A6D8-2E21-4110-A7D6-152A2640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E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75AAC-D881-46FF-A281-69F2CEF5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4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A6199-E362-4EDC-98E2-31CB9E0B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2381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83D"/>
          </a:solidFill>
          <a:ln xmlns:a="http://schemas.openxmlformats.org/drawingml/2006/main" w="66675">
            <a:solidFill>
              <a:srgbClr val="F4B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3A682-A4BC-4560-B695-AC1804BC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0–100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84880-0A1B-4E10-949E-644AD786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623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risk indicator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C2EF1-F406-4F93-8156-78446D84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19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Low · Moderate · High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8EC74-792A-4577-8ED4-0C375F6D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76400"/>
            <a:ext cx="7239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9525">
            <a:solidFill>
              <a:srgbClr val="55CED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7AA99-C418-4C46-AD28-E15BA11D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47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SUMMARY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DBE802-EC54-47E2-B9A6-412507D1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19275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A concise explanation of the message’s overall risk.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E160A-8BA4-47A2-B0E4-B2FB01E8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05100"/>
            <a:ext cx="7239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9525">
            <a:solidFill>
              <a:srgbClr val="55CED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67B012-1563-40C1-A2B0-99D7CB0E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876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WARNING FLAGS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86196-D950-47C7-BFA8-BDC0BBA7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47975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Specific tactics such as urgency, impersonation, or credential requests.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6ADD9-7A4B-4B6F-B91E-B3CB32C4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33800"/>
            <a:ext cx="7239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9525">
            <a:solidFill>
              <a:srgbClr val="55CED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C192C8-EF33-41DB-BCE7-895F9B0A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905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AA2B61-EC50-4B14-B894-75D96242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76675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Plain-language reasoning that helps a nontechnical user understand the concern.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4A534E-61AD-4D68-964D-BFFA7055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7239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9525">
            <a:solidFill>
              <a:srgbClr val="F4B64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0616B-5A68-49BB-94BD-E04741C9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33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NEXT STEP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B8CD3B-669F-4E99-A900-253BDB7D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905375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A practical action such as verifying through an official app or website.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E3D296-A859-4210-8E54-7F097861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The model treats submitted content as untrusted evidence and receives instructions not to follow links or commands inside it.</a:t>
            </a:r>
          </a:p>
        </p:txBody>
      </p:sp>
    </p:spTree>
    <p:extLst>
      <p:ext uri="{BB962C8B-B14F-4D97-AF65-F5344CB8AC3E}">
        <p14:creationId xmlns:p14="http://schemas.microsoft.com/office/powerpoint/2010/main" val="20325572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EA522E-19B3-4B9B-A516-5A7F53DE53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97ba7bd35476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589D8-34BA-4490-BDB4-16521322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Technology and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27204-F940-476A-9AC2-306ED01E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E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2E8F6-0D11-422B-AAAF-2569618F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4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80D64-8A1B-468E-8692-C0AFE087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466850"/>
            <a:ext cx="10001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930B2-D9E4-45D2-8EEA-BDF566F5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668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EXPERIENCE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CBA994-DEE1-495E-B4D9-459F55A3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287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React 19 · TypeScript 6 · Vite 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7B354-6013-4D6C-841B-1176184E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495550"/>
            <a:ext cx="10001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9BE6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27F4DD-4276-4FD1-9A44-02AE496C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955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EDGE APPLICATION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E570A-EE55-4279-A548-969C7AC1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574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Cloudflare Worker · Static Assets · SPA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746521-F726-46DA-9BFF-A3C2E9D3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524250"/>
            <a:ext cx="10001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F4B64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1F7C9-3CEB-4059-A50E-09BC8481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242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INTELLIGENCE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CD547-0FFA-47B2-868E-6A55A67A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861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Workers AI · Gemma 4 · normalized risk assessment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325D0D-A8A8-474F-AA49-5F478505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552950"/>
            <a:ext cx="10001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7AD9A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7B2B4A-1AD5-4A87-8DF2-19C5A899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529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7AD9A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7AD9A5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AD9A5"/>
                </a:solidFill>
                <a:latin typeface="Arial"/>
                <a:ea typeface="Arial"/>
                <a:cs typeface="Arial"/>
              </a:rPr>
              <a:t>EMAIL AND STATE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796879-8073-48A1-B087-968D2438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148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Email Routing · Email Workers · KV · MIME parsing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1967F3-892F-4451-BAAA-D2BD9011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743575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Wrangler manages local development and deployment. Vitest, ESLint, Oxlint, TypeScript, GitHub Actions, and CodeQL protect quality.</a:t>
            </a:r>
          </a:p>
        </p:txBody>
      </p:sp>
    </p:spTree>
    <p:extLst>
      <p:ext uri="{BB962C8B-B14F-4D97-AF65-F5344CB8AC3E}">
        <p14:creationId xmlns:p14="http://schemas.microsoft.com/office/powerpoint/2010/main" val="19637433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7B6BDA-93D0-4194-81DD-3D3451AA4B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b87fd73b24a8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E403D-40F4-4159-A625-BE89B715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Privacy and safety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38B196-E50C-4D78-B940-3229F702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E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EBD85-5E7E-4D4B-B1A4-95B7BC75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4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547E3-AB8F-4B02-A285-CB7EC639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50482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77702-60C7-4A19-9EA0-CA9AF7A3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90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EMAIL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F48FB-C235-4273-8E0F-2EAE7D94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Temporary storage with clear limits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40718-892B-48BD-9870-7AFA90C4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48000"/>
            <a:ext cx="41910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Parsed body and expiry time only</a:t>
            </a:r>
          </a:p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128-bit random bearer token</a:t>
            </a:r>
          </a:p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Hashed KV storage key</a:t>
            </a:r>
          </a:p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24-hour default expiry</a:t>
            </a:r>
          </a:p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No raw MIME or attachments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F860C-91E5-4319-AF4C-AA494143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485900"/>
            <a:ext cx="50482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19050">
            <a:solidFill>
              <a:srgbClr val="F4B64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D6403-63C6-43F8-9576-631FE8D5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790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ANALYZER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81145B-B8E4-4010-8614-429FB0B6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Human review before AI submission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5E819-2C80-4475-8F79-4755DDF7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48000"/>
            <a:ext cx="41910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No automatic AI call from email</a:t>
            </a:r>
          </a:p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Imported text stays out of saved drafts</a:t>
            </a:r>
          </a:p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No-store retrieval request and response</a:t>
            </a:r>
          </a:p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Private email session history excluded</a:t>
            </a:r>
          </a:p>
          <a:p xmlns:a="http://schemas.openxmlformats.org/drawingml/2006/main">
            <a:pPr>
              <a:defRPr sz="1425" b="0" i="0">
                <a:solidFill>
                  <a:srgbClr val="B9D3DA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D3DA"/>
                </a:solidFill>
                <a:latin typeface="Arial"/>
                <a:ea typeface="Arial"/>
                <a:cs typeface="Arial"/>
              </a:rPr>
              <a:t>• Risk indicator carries a clear limitation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9C9797-3156-40CB-ACAA-399ED957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The architecture targets Cloudflare’s available free allowances. Account-wide quotas still apply.</a:t>
            </a:r>
          </a:p>
        </p:txBody>
      </p:sp>
    </p:spTree>
    <p:extLst>
      <p:ext uri="{BB962C8B-B14F-4D97-AF65-F5344CB8AC3E}">
        <p14:creationId xmlns:p14="http://schemas.microsoft.com/office/powerpoint/2010/main" val="10341656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67C07-BB7E-48DA-836B-443AAA09F1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7b4258db5413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8434DD-C407-4412-8195-2E8F5C1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Ensign Build 2026 Team 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1FA94-8BCF-4005-B6D8-73B8372E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E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AE6758-811E-42EE-8A35-6633378D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4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C3B37-8C25-4969-A56C-2072AC73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40957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071C30"/>
          </a:solidFill>
          <a:ln xmlns:a="http://schemas.openxmlformats.org/drawingml/2006/main" w="19050">
            <a:solidFill>
              <a:srgbClr val="F4B640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0B888C-D717-412B-B90A-C82C8C02A8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7ac5c62f6468f"/>
          <a:stretch xmlns:a="http://schemas.openxmlformats.org/drawingml/2006/main"/>
        </p:blipFill>
        <p:spPr>
          <a:xfrm xmlns:a="http://schemas.openxmlformats.org/drawingml/2006/main">
            <a:off x="1066800" y="2137029"/>
            <a:ext cx="3486150" cy="260299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2F5FC-49FA-46C1-A4B4-16BEA8F3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6192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Phishing Hook team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5B8A3B-383E-4270-A321-A319EA52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384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9EDB81-775C-4062-8B8C-54C26ADA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098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Aaron Smith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7C888-EFE5-48E1-8348-FDD6B2FF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99085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ADD03-4924-4D22-9395-EBE8FA2F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622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Ammon Shelley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8D502-7885-45E0-96F6-4E9F83E4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5433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55CED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55CED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EDD6B7-24FF-48D0-AB28-8946CC26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147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Andre Martinez Vasquez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025A6F-E669-46A3-870F-19D278FE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09575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A60ED5-236C-44EF-A1BC-D7138D4A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671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Anil Bolukbasioglu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40554-9C93-46A9-AF7F-FB54590E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6482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92BBD7-2CBF-451D-90A4-598B8392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Arthur Santos Rodrigues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0D2896-3E6F-4D34-9546-F2ED878F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20065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80A0BC-BE2E-4DF9-B731-3FDDEADE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720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Reyna Rodriguez Ruiz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D713E3-8E54-4309-A348-6BA8DCBE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876925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AI integration · cybersecurity education · user-centered design</a:t>
            </a:r>
          </a:p>
        </p:txBody>
      </p:sp>
    </p:spTree>
    <p:extLst>
      <p:ext uri="{BB962C8B-B14F-4D97-AF65-F5344CB8AC3E}">
        <p14:creationId xmlns:p14="http://schemas.microsoft.com/office/powerpoint/2010/main" val="179729964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0A69D0-5460-4C74-B992-25832B844F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8fb897db44ca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13B8B-4A65-4AF7-A448-4AFAA926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334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071C30"/>
          </a:solidFill>
          <a:ln xmlns:a="http://schemas.openxmlformats.org/drawingml/2006/main" w="19050">
            <a:solidFill>
              <a:srgbClr val="55CED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2CAFB-8DCF-4C0A-8E67-43D890C0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45720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0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20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Don’t Bite</a:t>
            </a:r>
          </a:p>
          <a:p xmlns:a="http://schemas.openxmlformats.org/drawingml/2006/main">
            <a:pPr>
              <a:defRPr sz="420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the Hook!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D1C4B-3794-4804-8875-EDDD5301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62350"/>
            <a:ext cx="428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 i="0">
                <a:solidFill>
                  <a:srgbClr val="9BE6E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9BE6E7"/>
                </a:solidFill>
                <a:latin typeface="Arial"/>
                <a:ea typeface="Arial"/>
                <a:cs typeface="Arial"/>
              </a:rPr>
              <a:t>Pause. Verify through a trusted channel. Decide with better information.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364BC-F67A-461D-8F10-984818C0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95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 i="0">
                <a:solidFill>
                  <a:srgbClr val="F4B64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4B640"/>
                </a:solidFill>
                <a:latin typeface="Arial"/>
                <a:ea typeface="Arial"/>
                <a:cs typeface="Arial"/>
              </a:rPr>
              <a:t>phishhook.lol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244A77-60C3-4D33-89DF-49949AFE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340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 i="0">
                <a:solidFill>
                  <a:srgbClr val="F8F5ED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F8F5ED"/>
                </a:solidFill>
                <a:latin typeface="Arial"/>
                <a:ea typeface="Arial"/>
                <a:cs typeface="Arial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0237227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2026-10-10T16:47:40.9370000Z</dcterms:created>
  <dcterms:modified xsi:type="dcterms:W3CDTF">2026-10-10T16:47:40.9370000Z</dcterms:modified>
</coreProperties>
</file>